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0A8C0"/>
                </a:solidFill>
                <a:latin typeface="맑은 고딕"/>
                <a:ea typeface="맑은 고딕"/>
                <a:cs typeface="맑은 고딕"/>
              </a:rPr>
              <a:t>cmux × AIM Intelligence Hackathon · 2026-04-26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Skillogy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6B4A"/>
                </a:solidFill>
                <a:latin typeface="맑은 고딕"/>
                <a:ea typeface="맑은 고딕"/>
                <a:cs typeface="맑은 고딕"/>
              </a:rPr>
              <a:t>Skill + Ontology Graph — Claude Code skill 라우터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E6E9F5"/>
                </a:solidFill>
                <a:latin typeface="맑은 고딕"/>
                <a:ea typeface="맑은 고딕"/>
                <a:cs typeface="맑은 고딕"/>
              </a:rPr>
              <a:t>수백 개 skill을 흩어진 카드 더미 대신,</a:t>
            </a:r>
          </a:p>
          <a:p>
            <a:pPr algn="l"/>
            <a:r>
              <a:rPr sz="3200" b="0" i="0">
                <a:solidFill>
                  <a:srgbClr val="E6E9F5"/>
                </a:solidFill>
                <a:latin typeface="맑은 고딕"/>
                <a:ea typeface="맑은 고딕"/>
                <a:cs typeface="맑은 고딕"/>
              </a:rPr>
              <a:t>의미의 지도로 다시 그렸습니다.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5BF6"/>
                </a:solidFill>
                <a:latin typeface="맑은 고딕"/>
                <a:ea typeface="맑은 고딕"/>
                <a:cs typeface="맑은 고딕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42C"/>
                </a:solidFill>
                <a:latin typeface="맑은 고딕"/>
                <a:ea typeface="맑은 고딕"/>
                <a:cs typeface="맑은 고딕"/>
              </a:rPr>
              <a:t>Skill 트리거는 매번 lottery 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6E5BF6"/>
                </a:solidFill>
                <a:latin typeface="맑은 고딕"/>
                <a:ea typeface="맑은 고딕"/>
                <a:cs typeface="맑은 고딕"/>
              </a:rPr>
              <a:t>내 skill 들이 세션마다 사라진다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0142C"/>
                </a:solidFill>
                <a:latin typeface="맑은 고딕"/>
                <a:ea typeface="맑은 고딕"/>
                <a:cs typeface="맑은 고딕"/>
              </a:rPr>
              <a:t>·  ~/.claude/skills 에 정성껏 만들어 둔 skill 도 세션마다 결과가 다르다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0142C"/>
                </a:solidFill>
                <a:latin typeface="맑은 고딕"/>
                <a:ea typeface="맑은 고딕"/>
                <a:cs typeface="맑은 고딕"/>
              </a:rPr>
              <a:t>·  좋은 skill 받아 깔아도 그 세션에서만 작동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0142C"/>
                </a:solidFill>
                <a:latin typeface="맑은 고딕"/>
                <a:ea typeface="맑은 고딕"/>
                <a:cs typeface="맑은 고딕"/>
              </a:rPr>
              <a:t>·  내 통증인 줄 알았는데 — 측정된 사실이었다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840480"/>
            <a:ext cx="10881360" cy="0"/>
          </a:xfrm>
          <a:prstGeom prst="line">
            <a:avLst/>
          </a:prstGeom>
          <a:ln w="9525">
            <a:solidFill>
              <a:srgbClr val="C9C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6E5BF6"/>
                </a:solidFill>
                <a:latin typeface="맑은 고딕"/>
                <a:ea typeface="맑은 고딕"/>
                <a:cs typeface="맑은 고딕"/>
              </a:rPr>
              <a:t>Anthropic 자체 측정 — 천장은 분명하다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5303520" cy="178308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9050">
            <a:solidFill>
              <a:srgbClr val="C9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82312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Opus 4 · Native tool 사용 정확도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6B4A"/>
                </a:solidFill>
                <a:latin typeface="맑은 고딕"/>
                <a:ea typeface="맑은 고딕"/>
                <a:cs typeface="맑은 고딕"/>
              </a:rPr>
              <a:t>49%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617720"/>
            <a:ext cx="5303520" cy="178308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9050">
            <a:solidFill>
              <a:srgbClr val="C9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782312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+ Tool Search Tool (retrieval)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20640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6B4A"/>
                </a:solidFill>
                <a:latin typeface="맑은 고딕"/>
                <a:ea typeface="맑은 고딕"/>
                <a:cs typeface="맑은 고딕"/>
              </a:rPr>
              <a:t>74%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60350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← Anthropic이 retrieval 까지 동원해 도달한 천장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5BF6"/>
                </a:solidFill>
                <a:latin typeface="맑은 고딕"/>
                <a:ea typeface="맑은 고딕"/>
                <a:cs typeface="맑은 고딕"/>
              </a:rPr>
              <a:t>02 · METHOD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42C"/>
                </a:solidFill>
                <a:latin typeface="맑은 고딕"/>
                <a:ea typeface="맑은 고딕"/>
                <a:cs typeface="맑은 고딕"/>
              </a:rPr>
              <a:t>Skill 시스템을 지식 그래프로 풀어냈다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59436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Skill 자체가 1급 노드.</a:t>
            </a:r>
          </a:p>
          <a:p>
            <a:pPr algn="r"/>
            <a:r>
              <a:rPr sz="14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문제·의도·신호 위에 정박.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61188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6E5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61188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ProblemClass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9164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53212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61188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6E5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Skill (조합)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23760" y="4023360"/>
            <a:ext cx="822960" cy="0"/>
          </a:xfrm>
          <a:prstGeom prst="line">
            <a:avLst/>
          </a:prstGeom>
          <a:ln w="25400">
            <a:solidFill>
              <a:srgbClr val="FF6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95160" y="3858768"/>
            <a:ext cx="128016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100" i="1">
                <a:solidFill>
                  <a:srgbClr val="FF6B4A"/>
                </a:solidFill>
                <a:latin typeface="Consolas"/>
                <a:ea typeface="Consolas"/>
                <a:cs typeface="Consolas"/>
              </a:rPr>
              <a:t>solves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2514600"/>
            <a:ext cx="0" cy="1097280"/>
          </a:xfrm>
          <a:prstGeom prst="line">
            <a:avLst/>
          </a:prstGeom>
          <a:ln w="19050">
            <a:solidFill>
              <a:srgbClr val="4A5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0" y="2898648"/>
            <a:ext cx="128016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100" i="1">
                <a:solidFill>
                  <a:srgbClr val="4A526B"/>
                </a:solidFill>
                <a:latin typeface="Consolas"/>
                <a:ea typeface="Consolas"/>
                <a:cs typeface="Consolas"/>
              </a:rPr>
              <a:t>demands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126480" y="4434840"/>
            <a:ext cx="0" cy="1097280"/>
          </a:xfrm>
          <a:prstGeom prst="line">
            <a:avLst/>
          </a:prstGeom>
          <a:ln w="19050">
            <a:solidFill>
              <a:srgbClr val="4A5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0" y="4818888"/>
            <a:ext cx="128016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100" i="1">
                <a:solidFill>
                  <a:srgbClr val="4A526B"/>
                </a:solidFill>
                <a:latin typeface="Consolas"/>
                <a:ea typeface="Consolas"/>
                <a:cs typeface="Consolas"/>
              </a:rPr>
              <a:t>triggered_by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206240" y="4023360"/>
            <a:ext cx="822960" cy="0"/>
          </a:xfrm>
          <a:prstGeom prst="line">
            <a:avLst/>
          </a:prstGeom>
          <a:ln w="19050">
            <a:solidFill>
              <a:srgbClr val="4A5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77640" y="3858768"/>
            <a:ext cx="128016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100" i="1">
                <a:solidFill>
                  <a:srgbClr val="4A526B"/>
                </a:solidFill>
                <a:latin typeface="Consolas"/>
                <a:ea typeface="Consolas"/>
                <a:cs typeface="Consolas"/>
              </a:rPr>
              <a:t>composes_with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노드 4종 · 엣지 4종 — 라우팅·조합·안전성·관찰가능성을 한 백본에서.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5BF6"/>
                </a:solidFill>
                <a:latin typeface="맑은 고딕"/>
                <a:ea typeface="맑은 고딕"/>
                <a:cs typeface="맑은 고딕"/>
              </a:rPr>
              <a:t>02 · METHOD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42C"/>
                </a:solidFill>
                <a:latin typeface="맑은 고딕"/>
                <a:ea typeface="맑은 고딕"/>
                <a:cs typeface="맑은 고딕"/>
              </a:rPr>
              <a:t>기존 SKILL 생태계 그대로 — 우리가 추가한 건 그래프뿐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2377440"/>
            <a:ext cx="3474720" cy="219456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C9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447" y="25786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B4A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28803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142C"/>
                </a:solidFill>
                <a:latin typeface="맑은 고딕"/>
                <a:ea typeface="맑은 고딕"/>
                <a:cs typeface="맑은 고딕"/>
              </a:rPr>
              <a:t>SKILL.md 스캔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3520440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~/.claude/skills/**/SKILL.md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3849624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공식 frontmatter + 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" y="417880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Anthropic 표준 그대로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487" y="2377440"/>
            <a:ext cx="3474720" cy="2194560"/>
          </a:xfrm>
          <a:prstGeom prst="roundRect">
            <a:avLst>
              <a:gd name="adj" fmla="val 12000"/>
            </a:avLst>
          </a:prstGeom>
          <a:solidFill>
            <a:srgbClr val="EEECFF"/>
          </a:solidFill>
          <a:ln w="12700">
            <a:solidFill>
              <a:srgbClr val="C9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087" y="25786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B4A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28803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142C"/>
                </a:solidFill>
                <a:latin typeface="맑은 고딕"/>
                <a:ea typeface="맑은 고딕"/>
                <a:cs typeface="맑은 고딕"/>
              </a:rPr>
              <a:t>LLM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3520440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Haiku 4.5 가 컨텍스트로 받음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3849624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엔티티(노드) + 릴레이션(엣지)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087" y="417880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스키마 자동 추출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6127" y="2377440"/>
            <a:ext cx="3474720" cy="2194560"/>
          </a:xfrm>
          <a:prstGeom prst="roundRect">
            <a:avLst>
              <a:gd name="adj" fmla="val 12000"/>
            </a:avLst>
          </a:prstGeom>
          <a:solidFill>
            <a:srgbClr val="6E5BF6"/>
          </a:solidFill>
          <a:ln w="12700">
            <a:solidFill>
              <a:srgbClr val="C9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4727" y="25786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B4A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4727" y="28803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Neo4j Graph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4727" y="3520440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9F5"/>
                </a:solidFill>
                <a:latin typeface="맑은 고딕"/>
                <a:ea typeface="맑은 고딕"/>
                <a:cs typeface="맑은 고딕"/>
              </a:rPr>
              <a:t>Skillogy KG 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4727" y="3849624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9F5"/>
                </a:solidFill>
                <a:latin typeface="맑은 고딕"/>
                <a:ea typeface="맑은 고딕"/>
                <a:cs typeface="맑은 고딕"/>
              </a:rPr>
              <a:t>Cypher 로 traversal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4727" y="417880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9F5"/>
                </a:solidFill>
                <a:latin typeface="맑은 고딕"/>
                <a:ea typeface="맑은 고딕"/>
                <a:cs typeface="맑은 고딕"/>
              </a:rPr>
              <a:t>FastAPI · MCP 로 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01287" y="3474720"/>
            <a:ext cx="411480" cy="0"/>
          </a:xfrm>
          <a:prstGeom prst="line">
            <a:avLst/>
          </a:prstGeom>
          <a:ln w="31750">
            <a:solidFill>
              <a:srgbClr val="6E5B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78927" y="3474720"/>
            <a:ext cx="411480" cy="0"/>
          </a:xfrm>
          <a:prstGeom prst="line">
            <a:avLst/>
          </a:prstGeom>
          <a:ln w="31750">
            <a:solidFill>
              <a:srgbClr val="6E5B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기존 SKILL 표준을 깨지 않는다. Skillogy 는 그 위에 그래프 레이어를 더할 뿐.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5BF6"/>
                </a:solidFill>
                <a:latin typeface="맑은 고딕"/>
                <a:ea typeface="맑은 고딕"/>
                <a:cs typeface="맑은 고딕"/>
              </a:rPr>
              <a:t>03 ·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42C"/>
                </a:solidFill>
                <a:latin typeface="맑은 고딕"/>
                <a:ea typeface="맑은 고딕"/>
                <a:cs typeface="맑은 고딕"/>
              </a:rPr>
              <a:t>Trigger Accuracy — Native vs Skillogy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03920" cy="429768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9050">
            <a:solidFill>
              <a:srgbClr val="C9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[ 차트 이미지 삽입 영역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Native vs Skillogy · Trigger Accuracy 2-bar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발표 직전 차트를 본 위치에 PNG 로 삽입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A526B"/>
                </a:solidFill>
                <a:latin typeface="맑은 고딕"/>
                <a:ea typeface="맑은 고딕"/>
                <a:cs typeface="맑은 고딕"/>
              </a:rPr>
              <a:t>동일 SKILL 풀에서 Native(=Anthropic progressive disclosure) vs Skillogy 적용 후 비교.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5BF6"/>
                </a:solidFill>
                <a:latin typeface="맑은 고딕"/>
                <a:ea typeface="맑은 고딕"/>
                <a:cs typeface="맑은 고딕"/>
              </a:rPr>
              <a:t>04 ·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2194560"/>
            <a:ext cx="5394960" cy="2926080"/>
          </a:xfrm>
          <a:prstGeom prst="roundRect">
            <a:avLst>
              <a:gd name="adj" fmla="val 12000"/>
            </a:avLst>
          </a:prstGeom>
          <a:solidFill>
            <a:srgbClr val="1B2240"/>
          </a:solidFill>
          <a:ln w="9525">
            <a:solidFill>
              <a:srgbClr val="C9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327" y="2423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9F80"/>
                </a:solidFill>
                <a:latin typeface="맑은 고딕"/>
                <a:ea typeface="맑은 고딕"/>
                <a:cs typeface="맑은 고딕"/>
              </a:rPr>
              <a:t>WITHOUT SKILLOGY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27889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Native 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361188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0C8E0"/>
                </a:solidFill>
                <a:latin typeface="맑은 고딕"/>
                <a:ea typeface="맑은 고딕"/>
                <a:cs typeface="맑은 고딕"/>
              </a:rPr>
              <a:t>동일 발화 →</a:t>
            </a:r>
          </a:p>
          <a:p>
            <a:pPr algn="l"/>
            <a:r>
              <a:rPr sz="1800" b="0" i="0">
                <a:solidFill>
                  <a:srgbClr val="C0C8E0"/>
                </a:solidFill>
                <a:latin typeface="맑은 고딕"/>
                <a:ea typeface="맑은 고딕"/>
                <a:cs typeface="맑은 고딕"/>
              </a:rPr>
              <a:t>잘못된 / 빈 skill 트리거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94560"/>
            <a:ext cx="5394960" cy="2926080"/>
          </a:xfrm>
          <a:prstGeom prst="roundRect">
            <a:avLst>
              <a:gd name="adj" fmla="val 12000"/>
            </a:avLst>
          </a:prstGeom>
          <a:solidFill>
            <a:srgbClr val="6E5BF6"/>
          </a:solidFill>
          <a:ln w="9525">
            <a:solidFill>
              <a:srgbClr val="C9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423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E2C8"/>
                </a:solidFill>
                <a:latin typeface="맑은 고딕"/>
                <a:ea typeface="맑은 고딕"/>
                <a:cs typeface="맑은 고딕"/>
              </a:rPr>
              <a:t>WITH SKILLOGY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7889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Skillogy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61188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1EBFF"/>
                </a:solidFill>
                <a:latin typeface="맑은 고딕"/>
                <a:ea typeface="맑은 고딕"/>
                <a:cs typeface="맑은 고딕"/>
              </a:rPr>
              <a:t>그래프 traversal →</a:t>
            </a:r>
          </a:p>
          <a:p>
            <a:pPr algn="l"/>
            <a:r>
              <a:rPr sz="1800" b="0" i="0">
                <a:solidFill>
                  <a:srgbClr val="F1EBFF"/>
                </a:solidFill>
                <a:latin typeface="맑은 고딕"/>
                <a:ea typeface="맑은 고딕"/>
                <a:cs typeface="맑은 고딕"/>
              </a:rPr>
              <a:t>맞는 skill 트리거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E6E9F5"/>
                </a:solidFill>
                <a:latin typeface="맑은 고딕"/>
                <a:ea typeface="맑은 고딕"/>
                <a:cs typeface="맑은 고딕"/>
              </a:rPr>
              <a:t>터미널 2분할 (15s)  →  Web UI 그래프 시각화 (20s)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C0C8E0"/>
                </a:solidFill>
                <a:latin typeface="맑은 고딕"/>
                <a:ea typeface="맑은 고딕"/>
                <a:cs typeface="맑은 고딕"/>
              </a:rPr>
              <a:t>Skill 트리거의 천장은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 머릿속에 있었다.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6B4A"/>
                </a:solidFill>
                <a:latin typeface="맑은 고딕"/>
                <a:ea typeface="맑은 고딕"/>
                <a:cs typeface="맑은 고딕"/>
              </a:rPr>
              <a:t>Skillogy 는 그걸 그래프로 끌어냈다.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AA2BE"/>
                </a:solidFill>
                <a:latin typeface="맑은 고딕"/>
                <a:ea typeface="맑은 고딕"/>
                <a:cs typeface="맑은 고딕"/>
              </a:rPr>
              <a:t>Skillogy · Skill + Ontology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